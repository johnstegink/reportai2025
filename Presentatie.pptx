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68" r:id="rId1"/>
  </p:sldMasterIdLst>
  <p:notesMasterIdLst>
    <p:notesMasterId r:id="rId27"/>
  </p:notesMasterIdLst>
  <p:handoutMasterIdLst>
    <p:handoutMasterId r:id="rId28"/>
  </p:handoutMasterIdLst>
  <p:sldIdLst>
    <p:sldId id="258" r:id="rId2"/>
    <p:sldId id="260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8" r:id="rId11"/>
    <p:sldId id="277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6" autoAdjust="0"/>
    <p:restoredTop sz="94668"/>
  </p:normalViewPr>
  <p:slideViewPr>
    <p:cSldViewPr snapToGrid="0">
      <p:cViewPr varScale="1">
        <p:scale>
          <a:sx n="104" d="100"/>
          <a:sy n="104" d="100"/>
        </p:scale>
        <p:origin x="208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814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5348FDC-B6B2-40AC-8955-D84A28B0095A}" type="datetime1">
              <a:rPr lang="nl-NL" smtClean="0"/>
              <a:t>15-11-2025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2977E94-A6AB-4E02-8E43-E89F9CF4757F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542583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nl-NL" noProof="0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B50BA09-C4A7-4C9F-9F40-A6C1ACD24F84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nl-NL" noProof="0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nl-NL" noProof="0" dirty="0"/>
              <a:t>Klik om de tekststijlen van het model te bewerken</a:t>
            </a:r>
          </a:p>
          <a:p>
            <a:pPr lvl="1" rtl="0"/>
            <a:r>
              <a:rPr lang="nl-NL" noProof="0" dirty="0"/>
              <a:t>Tweede niveau</a:t>
            </a:r>
          </a:p>
          <a:p>
            <a:pPr lvl="2" rtl="0"/>
            <a:r>
              <a:rPr lang="nl-NL" noProof="0" dirty="0"/>
              <a:t>Derde niveau</a:t>
            </a:r>
          </a:p>
          <a:p>
            <a:pPr lvl="3" rtl="0"/>
            <a:r>
              <a:rPr lang="nl-NL" noProof="0" dirty="0"/>
              <a:t>Vierde niveau</a:t>
            </a:r>
          </a:p>
          <a:p>
            <a:pPr lvl="4" rtl="0"/>
            <a:r>
              <a:rPr lang="nl-NL" noProof="0" dirty="0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nl-NL" noProof="0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ED491D0-8E1B-49C7-849B-A28568D94497}" type="slidenum">
              <a:rPr lang="nl-NL" noProof="0" smtClean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7263258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smtClean="0"/>
              <a:t>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26734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365353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0E83-151E-F6AF-F0AC-CCAD16E4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812463A-68A2-1BFB-2D9D-DACDFFA379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2522AF-4677-EEB6-822D-7578EA7C9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B602F99-D0BF-5AFE-C74C-2E38FEFC6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3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396013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08874-4CB0-1127-9D22-481CF02E7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572C1CA-3918-98A6-5880-D67DF682DD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D0DCED7B-B4A7-C5A1-FCD7-BD318693EE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7DB3768-863F-7FE7-FB50-FD9404C6DB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4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6753137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4F6E-721A-2EAF-028C-003859F9C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E174C54-D714-0884-B708-EDF0F00E5E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9689608-0FA8-5E3C-8B68-E4BDC418E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7F6770B-75CD-4934-848E-86323CB663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5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336721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D42F-2F9F-D707-42DD-8A4FDD849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6EB754E-C058-32CB-D0C5-F0097C8D3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4FEEF7D-BA5E-5D92-A0AE-593FD4498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434E76-1BD5-4DB1-7110-FA953AA4EA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6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5306489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FBF1-B615-EB9B-2BA9-0E46AA0A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1A3EB46-2F6C-C180-B7EB-36B108215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42EDF2A-9046-5526-46DC-94313E337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2F63448-C189-C0DA-325C-E80B6FE00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7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524371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31848-A2C9-18F8-2A3D-EA9CB8387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76E7EFE-DF01-C903-B01E-5437ACABA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D13A7D76-1796-4410-6197-A23DD5F21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380C9DA-4DCD-3617-EA98-883E27A1A4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8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25158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6C8B7-31FA-D98F-C5FF-252E6AED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94D0127F-FF3D-44DB-8172-2FC1FF5B0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2A0440-E5CF-A1A8-9A33-D190E890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4308439-F3FF-F0F7-43D1-69AC436AE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9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9969060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A008E-5769-ABC3-5BDF-82E9772A3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E3E083B-37B5-010D-3FDC-19D113F6F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4B9F01E-93A1-8039-8642-DB03F8D23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414E6BB-BD3E-1DC9-619F-E61AAAFBD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10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50346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1F5E-5649-F497-0860-7F962BCEE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492C46C-4DF3-C65A-4F30-738CBBCBE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C3E050F-A7B5-7FFF-421F-7740737238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AAD0D64-F70D-102C-4F3B-862E00E4E2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11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1681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6C8B7-31FA-D98F-C5FF-252E6AED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94D0127F-FF3D-44DB-8172-2FC1FF5B0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2A0440-E5CF-A1A8-9A33-D190E890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4308439-F3FF-F0F7-43D1-69AC436AE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12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6189715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1F0F7-3C61-CB73-CD09-1264F1280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8EA2765-BDF7-27F6-E4C2-58402FCCE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0914E61-9575-8D0D-AD6C-CC8B092B3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FE6E971-9669-9397-9EAB-3A26FC8DCD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13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6062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DD5AC-F3E1-229C-456D-B93829897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4A9DA54-5733-8E50-CC21-96AA9396C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99C0516-9112-433D-51DC-24F29AF60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7990452-6B4B-CB05-0AA7-3C7A7AEC7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14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48398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F6739-8B30-2205-7CE9-BA20054FF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3A12F8-BD95-3E3D-4CCD-68FDFB7BA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32B45C3-F7F8-82DB-B97A-60236D859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EF57E16-DE8C-F17A-5D98-26B82772E0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15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262391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116AC-3197-297B-C0E4-883A078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BDE7862-F113-67DB-C666-F2CBEF206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93EE1A0-3756-FF6E-D623-F94496ADF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24AC8E0-97FC-C1B1-917D-9376520900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16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522278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99931-84CD-EDEB-3B4A-EAE9D83D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386D2AB-1AE1-7FCB-C800-B2F1C3947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2994AF8-FCA4-B8F4-0480-187451B74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75A527D-28D3-4A2F-CE09-07A04E164F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17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5080061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398FE-E122-3037-A42F-C7E0F7FB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F01DBB0-48FD-54E3-356D-01A5C167D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16EFFF8-3FC7-E93D-B333-6245971FB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B7DD424-6BF4-3761-9001-6F74766A9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18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5650878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D8544-8C2F-A3D2-EEE1-5EE15D0F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E54ED99-4BAB-2601-D578-DC327B12E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CC7324C9-51D7-D358-238D-09EF50FCE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7A55D74-8CCC-FE82-1A97-ECEEEBFB2B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19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5478310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85A50-91DA-EF31-1844-10492273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F12B875-8591-E2C8-D5FF-4F08C0F48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86D8C00-EC26-544D-56D1-6A03511E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DA2C566-0651-06EC-FDC9-B9143597B0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20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6177326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8B14-BE38-584C-E18F-434D94DFF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CE302C9-51BD-31E7-2C71-A0B9634D7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C693779A-861A-9772-28BD-D4B71A3C01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3FC21AF-B212-9036-ABCB-243517618C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21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130834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032D2-0680-B1FF-642B-A32F58317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5D406ED-225F-1364-A8AB-C1FE5CEB7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BAEF469-8487-29BD-0CFB-FB1692DD6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F7CC680-D160-966C-FAD0-CE83E7E8F5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22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68965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8E639-863E-163C-F1A3-1D4E1ABBC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F2F0CC9-9D82-F6C2-98CE-C963802B5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C501196-C71B-05DF-E88B-601AE9243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269628-7BE6-7E2D-1ADB-7FC27C06DE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23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5592594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6BD7-1B98-0D23-AAC3-D39C085AB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D20129F-ACEB-DD00-495A-12BC8516E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CA899E9-30EB-2519-BBE5-2692A1E7D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2BAB305-786E-6E85-6320-301F80FA5F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24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44162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E7B8-5123-F8DA-BEFC-9392C534E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1DF9584-4CB3-11E3-A50A-70AAB377A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CD8F52E-2A66-60BE-EE8E-A48F2AD11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1F128E4-FAF6-4FD8-58B7-742A6F327E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ED491D0-8E1B-49C7-849B-A28568D94497}" type="slidenum">
              <a:rPr lang="nl-NL" noProof="0" smtClean="0"/>
              <a:t>25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94494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E58AF97-A3DC-4923-BC1F-2FBF277F66F2}" type="datetime1">
              <a:rPr lang="nl-NL" smtClean="0"/>
              <a:t>15-11-2025</a:t>
            </a:fld>
            <a:endParaRPr lang="nl-N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smtClean="0"/>
              <a:pPr rtl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508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127363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069727D-B0FA-4977-8AA0-478D434CE9A6}" type="datetime1">
              <a:rPr lang="nl-NL" smtClean="0"/>
              <a:t>15-11-2025</a:t>
            </a:fld>
            <a:endParaRPr lang="nl-N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smtClean="0"/>
              <a:pPr rtl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5558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50050409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3111669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49E9282-5448-488B-80DE-5B327E77B61B}" type="datetime1">
              <a:rPr lang="nl-NL" smtClean="0"/>
              <a:t>15-11-2025</a:t>
            </a:fld>
            <a:endParaRPr lang="nl-NL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78474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4A176DA-F5CB-4859-99A1-BE0EEB2A804E}" type="datetime1">
              <a:rPr lang="nl-NL" smtClean="0"/>
              <a:t>15-11-2025</a:t>
            </a:fld>
            <a:endParaRPr lang="nl-NL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98122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8907435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53800281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31868466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2771537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9665806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12015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69639601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3282033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84341251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0F33F76-EEFF-49D2-A969-B2E37F8A00C8}" type="datetime1">
              <a:rPr lang="nl-NL" noProof="0" smtClean="0"/>
              <a:t>15-11-2025</a:t>
            </a:fld>
            <a:endParaRPr lang="nl-NL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nl-NL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rtl="0"/>
            <a:fld id="{BD266BE7-899D-4075-917F-DBDE33B6B692}" type="slidenum">
              <a:rPr lang="nl-NL" noProof="0" smtClean="0"/>
              <a:pPr rtl="0"/>
              <a:t>‹nr.›</a:t>
            </a:fld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09559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69" r:id="rId1"/>
    <p:sldLayoutId id="2147484670" r:id="rId2"/>
    <p:sldLayoutId id="2147484671" r:id="rId3"/>
    <p:sldLayoutId id="2147484672" r:id="rId4"/>
    <p:sldLayoutId id="2147484673" r:id="rId5"/>
    <p:sldLayoutId id="2147484674" r:id="rId6"/>
    <p:sldLayoutId id="2147484675" r:id="rId7"/>
    <p:sldLayoutId id="2147484676" r:id="rId8"/>
    <p:sldLayoutId id="2147484677" r:id="rId9"/>
    <p:sldLayoutId id="2147484678" r:id="rId10"/>
    <p:sldLayoutId id="2147484679" r:id="rId11"/>
    <p:sldLayoutId id="2147484680" r:id="rId12"/>
    <p:sldLayoutId id="2147484681" r:id="rId13"/>
    <p:sldLayoutId id="2147484682" r:id="rId14"/>
    <p:sldLayoutId id="2147484683" r:id="rId15"/>
    <p:sldLayoutId id="2147484684" r:id="rId1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 rtlCol="0">
            <a:normAutofit fontScale="90000"/>
          </a:bodyPr>
          <a:lstStyle/>
          <a:p>
            <a:pPr rtl="0"/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&amp;</a:t>
            </a:r>
            <a:br>
              <a:rPr lang="nl-NL" dirty="0"/>
            </a:br>
            <a:r>
              <a:rPr lang="nl-NL" dirty="0"/>
              <a:t>SVD in PCA</a:t>
            </a:r>
          </a:p>
        </p:txBody>
      </p:sp>
      <p:sp>
        <p:nvSpPr>
          <p:cNvPr id="3" name="Subtitel 2"/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nl-NL" dirty="0"/>
              <a:t>Evert Jan Karman &amp; John Stegink</a:t>
            </a:r>
          </a:p>
        </p:txBody>
      </p:sp>
    </p:spTree>
    <p:extLst>
      <p:ext uri="{BB962C8B-B14F-4D97-AF65-F5344CB8AC3E}">
        <p14:creationId xmlns:p14="http://schemas.microsoft.com/office/powerpoint/2010/main" val="1732698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nl-NL" dirty="0"/>
              <a:t>Contents</a:t>
            </a:r>
          </a:p>
        </p:txBody>
      </p:sp>
      <p:sp>
        <p:nvSpPr>
          <p:cNvPr id="14" name="Tijdelijke aanduiding voor inhoud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nl-NL" dirty="0" err="1"/>
              <a:t>Introduction</a:t>
            </a:r>
            <a:endParaRPr lang="nl-NL" dirty="0"/>
          </a:p>
          <a:p>
            <a:pPr rtl="0"/>
            <a:r>
              <a:rPr lang="nl-NL" dirty="0" err="1"/>
              <a:t>Methods</a:t>
            </a:r>
            <a:r>
              <a:rPr lang="nl-NL" dirty="0"/>
              <a:t> Calculus</a:t>
            </a:r>
          </a:p>
          <a:p>
            <a:pPr rtl="0"/>
            <a:r>
              <a:rPr lang="nl-NL" dirty="0" err="1"/>
              <a:t>Methods</a:t>
            </a:r>
            <a:r>
              <a:rPr lang="nl-NL" dirty="0"/>
              <a:t> Lineair Algebra</a:t>
            </a:r>
          </a:p>
          <a:p>
            <a:pPr rtl="0"/>
            <a:r>
              <a:rPr lang="nl-NL" dirty="0" err="1"/>
              <a:t>Numerical</a:t>
            </a:r>
            <a:r>
              <a:rPr lang="nl-NL" dirty="0"/>
              <a:t> </a:t>
            </a:r>
            <a:r>
              <a:rPr lang="nl-NL" dirty="0" err="1"/>
              <a:t>Examples</a:t>
            </a:r>
            <a:endParaRPr lang="nl-NL" dirty="0"/>
          </a:p>
          <a:p>
            <a:pPr rtl="0"/>
            <a:r>
              <a:rPr lang="nl-NL" dirty="0" err="1"/>
              <a:t>Collaboration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4035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168E-F98F-5319-DE1A-655ED9FE7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00CE7177-3AEC-5019-11C8-FAFD3754C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nl-NL" dirty="0" err="1"/>
              <a:t>Introduction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892EB81D-6B68-B436-3F1D-AB369EE90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nl-NL" dirty="0" err="1"/>
              <a:t>Cost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machine </a:t>
            </a:r>
            <a:r>
              <a:rPr lang="nl-NL" dirty="0" err="1"/>
              <a:t>learning</a:t>
            </a:r>
            <a:endParaRPr lang="nl-NL" dirty="0"/>
          </a:p>
          <a:p>
            <a:pPr rtl="0"/>
            <a:r>
              <a:rPr lang="nl-NL" dirty="0"/>
              <a:t>Optimizing </a:t>
            </a:r>
            <a:r>
              <a:rPr lang="nl-NL" dirty="0" err="1"/>
              <a:t>cost</a:t>
            </a:r>
            <a:r>
              <a:rPr lang="nl-NL" dirty="0"/>
              <a:t> </a:t>
            </a:r>
            <a:r>
              <a:rPr lang="nl-NL" dirty="0" err="1"/>
              <a:t>function</a:t>
            </a:r>
            <a:endParaRPr lang="nl-NL" dirty="0"/>
          </a:p>
          <a:p>
            <a:pPr rtl="0"/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&amp; </a:t>
            </a:r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endParaRPr lang="nl-NL" dirty="0"/>
          </a:p>
          <a:p>
            <a:pPr rtl="0"/>
            <a:r>
              <a:rPr lang="nl-NL" dirty="0"/>
              <a:t>SVD &lt;-&gt; PCA</a:t>
            </a:r>
          </a:p>
          <a:p>
            <a:pPr rtl="0"/>
            <a:r>
              <a:rPr lang="nl-NL" dirty="0"/>
              <a:t>SVD &lt;-&gt; EVD</a:t>
            </a:r>
          </a:p>
        </p:txBody>
      </p:sp>
    </p:spTree>
    <p:extLst>
      <p:ext uri="{BB962C8B-B14F-4D97-AF65-F5344CB8AC3E}">
        <p14:creationId xmlns:p14="http://schemas.microsoft.com/office/powerpoint/2010/main" val="3412041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C5763-9508-3EE7-BD11-833D24171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E325C65A-AA8B-6F3B-DF2C-4BFB92581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22D4AEA5-5137-861D-4C67-BB291C4D7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nl-NL" dirty="0" err="1"/>
              <a:t>Metaphore</a:t>
            </a:r>
            <a:r>
              <a:rPr lang="nl-NL" dirty="0"/>
              <a:t> </a:t>
            </a:r>
            <a:r>
              <a:rPr lang="nl-NL" dirty="0" err="1"/>
              <a:t>descending</a:t>
            </a:r>
            <a:r>
              <a:rPr lang="nl-NL" dirty="0"/>
              <a:t> a </a:t>
            </a:r>
            <a:r>
              <a:rPr lang="nl-NL" dirty="0" err="1"/>
              <a:t>hill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mist</a:t>
            </a:r>
          </a:p>
          <a:p>
            <a:pPr rtl="0"/>
            <a:r>
              <a:rPr lang="nl-NL" dirty="0" err="1"/>
              <a:t>Continous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differentiable</a:t>
            </a:r>
            <a:endParaRPr lang="nl-NL" dirty="0"/>
          </a:p>
          <a:p>
            <a:pPr rtl="0"/>
            <a:r>
              <a:rPr lang="nl-NL" dirty="0"/>
              <a:t>⍺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 </a:t>
            </a:r>
            <a:r>
              <a:rPr lang="nl-NL" dirty="0" err="1"/>
              <a:t>rate</a:t>
            </a:r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47779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A7B9D-0ECC-081A-5BFD-744D6FA0B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FB42BC19-1D2D-D528-D36A-0C1A0ACDD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</p:txBody>
      </p:sp>
      <p:pic>
        <p:nvPicPr>
          <p:cNvPr id="7" name="Tijdelijke aanduiding voor inhoud 6" descr="Afbeelding met lijn, diagram, Perceel&#10;&#10;Door AI gegenereerde inhoud is mogelijk onjuist.">
            <a:extLst>
              <a:ext uri="{FF2B5EF4-FFF2-40B4-BE49-F238E27FC236}">
                <a16:creationId xmlns:a16="http://schemas.microsoft.com/office/drawing/2014/main" id="{A4CB45A8-CA57-9579-F1ED-027506C86E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99" y="1930399"/>
            <a:ext cx="5667031" cy="3766065"/>
          </a:xfrm>
        </p:spPr>
      </p:pic>
      <p:pic>
        <p:nvPicPr>
          <p:cNvPr id="2" name="Afbeelding 1">
            <a:extLst>
              <a:ext uri="{FF2B5EF4-FFF2-40B4-BE49-F238E27FC236}">
                <a16:creationId xmlns:a16="http://schemas.microsoft.com/office/drawing/2014/main" id="{BE770B53-EAC7-8958-49B7-85BA1950E8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759" y="5436973"/>
            <a:ext cx="4898171" cy="95524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709616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DA1C0-4362-6F24-BC0A-86DAF51D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F77FB218-3467-D7E5-DC08-39F46A43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04CE60BF-E4BF-5F51-3160-8D6E0C40A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nl-NL" dirty="0" err="1"/>
              <a:t>Finds</a:t>
            </a:r>
            <a:r>
              <a:rPr lang="nl-NL" dirty="0"/>
              <a:t> zero’s of </a:t>
            </a:r>
            <a:r>
              <a:rPr lang="nl-NL" dirty="0" err="1"/>
              <a:t>function</a:t>
            </a:r>
            <a:endParaRPr lang="nl-NL" dirty="0"/>
          </a:p>
          <a:p>
            <a:pPr rtl="0"/>
            <a:r>
              <a:rPr lang="nl-NL" dirty="0" err="1"/>
              <a:t>Continous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differentiable</a:t>
            </a:r>
            <a:endParaRPr lang="nl-NL" dirty="0"/>
          </a:p>
          <a:p>
            <a:pPr rtl="0"/>
            <a:r>
              <a:rPr lang="nl-NL" dirty="0"/>
              <a:t>Method:</a:t>
            </a:r>
          </a:p>
          <a:p>
            <a:pPr lvl="1"/>
            <a:r>
              <a:rPr lang="nl-NL" dirty="0"/>
              <a:t>Start at a random point on </a:t>
            </a:r>
            <a:r>
              <a:rPr lang="nl-NL" dirty="0" err="1"/>
              <a:t>the</a:t>
            </a:r>
            <a:r>
              <a:rPr lang="nl-NL" dirty="0"/>
              <a:t> curve</a:t>
            </a:r>
          </a:p>
          <a:p>
            <a:pPr lvl="1"/>
            <a:r>
              <a:rPr lang="nl-NL" dirty="0" err="1"/>
              <a:t>Determine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tangent line at </a:t>
            </a:r>
            <a:r>
              <a:rPr lang="nl-NL" dirty="0" err="1"/>
              <a:t>that</a:t>
            </a:r>
            <a:r>
              <a:rPr lang="nl-NL" dirty="0"/>
              <a:t> point (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derivative</a:t>
            </a:r>
            <a:r>
              <a:rPr lang="nl-NL" dirty="0"/>
              <a:t>)</a:t>
            </a:r>
          </a:p>
          <a:p>
            <a:pPr lvl="1"/>
            <a:r>
              <a:rPr lang="nl-NL" dirty="0" err="1"/>
              <a:t>Determine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point </a:t>
            </a:r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tangent line hits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axis</a:t>
            </a:r>
            <a:endParaRPr lang="nl-NL" dirty="0"/>
          </a:p>
          <a:p>
            <a:pPr lvl="1"/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point found in </a:t>
            </a:r>
            <a:r>
              <a:rPr lang="nl-NL" dirty="0" err="1"/>
              <a:t>previous</a:t>
            </a:r>
            <a:r>
              <a:rPr lang="nl-NL" dirty="0"/>
              <a:t> step, continue </a:t>
            </a:r>
            <a:r>
              <a:rPr lang="nl-NL" dirty="0" err="1"/>
              <a:t>with</a:t>
            </a:r>
            <a:r>
              <a:rPr lang="nl-NL" dirty="0"/>
              <a:t> step, 2 </a:t>
            </a:r>
            <a:r>
              <a:rPr lang="nl-NL" dirty="0" err="1"/>
              <a:t>until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change </a:t>
            </a:r>
            <a:r>
              <a:rPr lang="nl-NL" dirty="0" err="1"/>
              <a:t>significantly</a:t>
            </a:r>
            <a:r>
              <a:rPr lang="nl-NL" dirty="0"/>
              <a:t> </a:t>
            </a:r>
            <a:r>
              <a:rPr lang="nl-NL" dirty="0" err="1"/>
              <a:t>anymore</a:t>
            </a: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99779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155BE-8E06-7DD6-AD0D-652741246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84B653F1-AD09-A905-9580-5CB8DFD27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</p:txBody>
      </p:sp>
      <p:pic>
        <p:nvPicPr>
          <p:cNvPr id="6" name="Tijdelijke aanduiding voor inhoud 5" descr="Afbeelding met diagram, lijn, Perceel, helling&#10;&#10;Door AI gegenereerde inhoud is mogelijk onjuist.">
            <a:extLst>
              <a:ext uri="{FF2B5EF4-FFF2-40B4-BE49-F238E27FC236}">
                <a16:creationId xmlns:a16="http://schemas.microsoft.com/office/drawing/2014/main" id="{A78A9EAB-F291-D9F9-6ECA-85EF44F8D5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3" y="1930399"/>
            <a:ext cx="5711109" cy="3795357"/>
          </a:xfr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38B70A17-ADB3-BB45-0A6C-59771AE01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775" y="5620264"/>
            <a:ext cx="6893785" cy="904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930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7D9E6-49EA-E82D-E813-412C967B8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BA67028F-59E8-F801-CDBE-5AFBE432F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9EF56714-9765-B6BF-06A8-9BC65FC0D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Use</a:t>
            </a:r>
            <a:r>
              <a:rPr lang="nl-NL" dirty="0"/>
              <a:t> second </a:t>
            </a:r>
            <a:r>
              <a:rPr lang="nl-NL" dirty="0" err="1"/>
              <a:t>derivative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minimum or maximum</a:t>
            </a:r>
          </a:p>
          <a:p>
            <a:pPr lvl="1"/>
            <a:r>
              <a:rPr lang="nl-NL" dirty="0"/>
              <a:t>f′′(x) &gt;0 ⇒f has a minimum at x</a:t>
            </a:r>
          </a:p>
          <a:p>
            <a:pPr lvl="1"/>
            <a:r>
              <a:rPr lang="nl-NL" dirty="0"/>
              <a:t>f′′(x) &lt;0 ⇒f has a maximum at x</a:t>
            </a:r>
          </a:p>
          <a:p>
            <a:pPr lvl="1"/>
            <a:r>
              <a:rPr lang="nl-NL" dirty="0"/>
              <a:t>f′′(x) = 0 ⇒</a:t>
            </a:r>
            <a:r>
              <a:rPr lang="nl-NL" dirty="0" err="1"/>
              <a:t>inconclusive</a:t>
            </a:r>
            <a:r>
              <a:rPr lang="nl-NL" dirty="0"/>
              <a:t>, </a:t>
            </a:r>
            <a:r>
              <a:rPr lang="nl-NL" dirty="0" err="1"/>
              <a:t>perhaps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inflection</a:t>
            </a:r>
            <a:r>
              <a:rPr lang="nl-NL" dirty="0"/>
              <a:t> point</a:t>
            </a:r>
          </a:p>
          <a:p>
            <a:pPr marL="457200" lvl="1" indent="0">
              <a:buNone/>
            </a:pP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50453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A088B-6F92-777D-6BD9-B360FCCDE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7FAF6D00-5FBF-F0EC-F9B9-A3D5A055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Functions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or more variables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their</a:t>
            </a:r>
            <a:r>
              <a:rPr lang="nl-NL" dirty="0"/>
              <a:t> </a:t>
            </a:r>
            <a:r>
              <a:rPr lang="nl-NL" dirty="0" err="1"/>
              <a:t>derivatives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8A35F719-529A-E993-4EF9-93EFC8208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Multiple variables in </a:t>
            </a:r>
            <a:r>
              <a:rPr lang="nl-NL" dirty="0" err="1"/>
              <a:t>function</a:t>
            </a:r>
            <a:endParaRPr lang="nl-NL" dirty="0"/>
          </a:p>
          <a:p>
            <a:pPr rtl="0"/>
            <a:r>
              <a:rPr lang="nl-NL" dirty="0"/>
              <a:t>Common in </a:t>
            </a:r>
            <a:r>
              <a:rPr lang="nl-NL" dirty="0" err="1"/>
              <a:t>machinelearning</a:t>
            </a:r>
            <a:endParaRPr lang="nl-NL" dirty="0"/>
          </a:p>
          <a:p>
            <a:pPr rtl="0"/>
            <a:r>
              <a:rPr lang="nl-NL" dirty="0" err="1"/>
              <a:t>Example</a:t>
            </a:r>
            <a:r>
              <a:rPr lang="nl-NL" dirty="0"/>
              <a:t> </a:t>
            </a:r>
            <a:r>
              <a:rPr lang="nl-NL" dirty="0" err="1"/>
              <a:t>find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price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house</a:t>
            </a:r>
          </a:p>
          <a:p>
            <a:pPr lvl="1"/>
            <a:r>
              <a:rPr lang="nl-NL" dirty="0"/>
              <a:t>Floor area</a:t>
            </a:r>
          </a:p>
          <a:p>
            <a:pPr lvl="1"/>
            <a:r>
              <a:rPr lang="nl-NL" dirty="0" err="1"/>
              <a:t>Number</a:t>
            </a:r>
            <a:r>
              <a:rPr lang="nl-NL" dirty="0"/>
              <a:t> of shops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neighbourhood</a:t>
            </a: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41138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50816-9211-2BBD-5033-C1E2FE493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69D6A848-5F97-6915-CA02-D334D4922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Functions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or more variables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their</a:t>
            </a:r>
            <a:r>
              <a:rPr lang="nl-NL" dirty="0"/>
              <a:t> </a:t>
            </a:r>
            <a:r>
              <a:rPr lang="nl-NL" dirty="0" err="1"/>
              <a:t>derivatives</a:t>
            </a:r>
            <a:endParaRPr lang="nl-NL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F8F3F7A-E9A3-D9CB-8028-4744C2B18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183" y="5976831"/>
            <a:ext cx="6457311" cy="543138"/>
          </a:xfrm>
          <a:prstGeom prst="rect">
            <a:avLst/>
          </a:prstGeom>
        </p:spPr>
      </p:pic>
      <p:pic>
        <p:nvPicPr>
          <p:cNvPr id="12" name="Tijdelijke aanduiding voor inhoud 11" descr="Afbeelding met diagram, lijn, ontwerp&#10;&#10;Door AI gegenereerde inhoud is mogelijk onjuist.">
            <a:extLst>
              <a:ext uri="{FF2B5EF4-FFF2-40B4-BE49-F238E27FC236}">
                <a16:creationId xmlns:a16="http://schemas.microsoft.com/office/drawing/2014/main" id="{0A32070E-CA07-372D-363E-B723B2E333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98" y="2044648"/>
            <a:ext cx="4552870" cy="3881437"/>
          </a:xfrm>
        </p:spPr>
      </p:pic>
    </p:spTree>
    <p:extLst>
      <p:ext uri="{BB962C8B-B14F-4D97-AF65-F5344CB8AC3E}">
        <p14:creationId xmlns:p14="http://schemas.microsoft.com/office/powerpoint/2010/main" val="846649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5BDD7-75F4-4F00-D2FE-31C8449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8FFB27FB-AC27-DCAF-4096-54A886E4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Functions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or more variables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their</a:t>
            </a:r>
            <a:r>
              <a:rPr lang="nl-NL" dirty="0"/>
              <a:t> </a:t>
            </a:r>
            <a:r>
              <a:rPr lang="nl-NL" dirty="0" err="1"/>
              <a:t>derivatives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177395D0-014C-A297-6B10-D102FDDB4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Derivatives</a:t>
            </a:r>
            <a:r>
              <a:rPr lang="nl-NL" dirty="0"/>
              <a:t> are </a:t>
            </a:r>
            <a:r>
              <a:rPr lang="nl-NL" dirty="0" err="1"/>
              <a:t>with</a:t>
            </a:r>
            <a:r>
              <a:rPr lang="nl-NL" dirty="0"/>
              <a:t> respect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b="1" dirty="0" err="1"/>
              <a:t>one</a:t>
            </a:r>
            <a:r>
              <a:rPr lang="nl-NL" dirty="0"/>
              <a:t> </a:t>
            </a:r>
            <a:r>
              <a:rPr lang="nl-NL" dirty="0" err="1"/>
              <a:t>variable</a:t>
            </a: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32F7D2D4-7F4A-5474-9D37-C8D12DCFD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466" y="2652279"/>
            <a:ext cx="6672515" cy="226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182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A088B-6F92-777D-6BD9-B360FCCDE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7FAF6D00-5FBF-F0EC-F9B9-A3D5A055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or more variables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8A35F719-529A-E993-4EF9-93EFC8208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Same </a:t>
            </a:r>
            <a:r>
              <a:rPr lang="nl-NL" dirty="0" err="1"/>
              <a:t>metaphore</a:t>
            </a:r>
            <a:r>
              <a:rPr lang="nl-NL" dirty="0"/>
              <a:t> walk </a:t>
            </a:r>
            <a:r>
              <a:rPr lang="nl-NL" dirty="0" err="1"/>
              <a:t>to</a:t>
            </a:r>
            <a:r>
              <a:rPr lang="nl-NL" dirty="0"/>
              <a:t> west en </a:t>
            </a:r>
            <a:r>
              <a:rPr lang="nl-NL" dirty="0" err="1"/>
              <a:t>north</a:t>
            </a:r>
            <a:endParaRPr lang="nl-NL" dirty="0"/>
          </a:p>
          <a:p>
            <a:pPr rtl="0"/>
            <a:r>
              <a:rPr lang="nl-NL" dirty="0" err="1"/>
              <a:t>Gradient</a:t>
            </a:r>
            <a:r>
              <a:rPr lang="nl-NL" dirty="0"/>
              <a:t>:</a:t>
            </a:r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rtl="0"/>
            <a:r>
              <a:rPr lang="nl-NL" dirty="0"/>
              <a:t>Definition</a:t>
            </a:r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FD08B2F8-610A-F73F-C529-BF57C8D0B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966" y="2985186"/>
            <a:ext cx="2912526" cy="88762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6E3D40AC-F57C-F152-C161-7635DC50F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3477" y="4364948"/>
            <a:ext cx="5503288" cy="887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95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26E42-369B-6A90-982D-A4A1C594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DC41969D-91AD-EFCB-E9B8-66AA4136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Hessian</a:t>
            </a:r>
            <a:r>
              <a:rPr lang="nl-NL" dirty="0"/>
              <a:t> matrix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2087D9F4-CD5D-2442-C57F-F54A53ECA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Two</a:t>
            </a:r>
            <a:r>
              <a:rPr lang="nl-NL" dirty="0"/>
              <a:t> variables:</a:t>
            </a:r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rtl="0"/>
            <a:r>
              <a:rPr lang="nl-NL" dirty="0"/>
              <a:t>General:</a:t>
            </a:r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33F6EE2-74F9-7826-7B87-D56F9AFE1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092" y="2160589"/>
            <a:ext cx="3194908" cy="1307008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9407E2C6-27E1-C2CF-E42B-EB1FD57FF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89" y="3896669"/>
            <a:ext cx="4346586" cy="281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418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9EECC-2964-3251-FEED-9F4225EE4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AFEEA496-A86C-AD04-36CF-7D8593FF9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Hessian</a:t>
            </a:r>
            <a:r>
              <a:rPr lang="nl-NL" dirty="0"/>
              <a:t> matrix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FB870C5A-63EF-BBF0-F0C4-F634A49B1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Symmetric</a:t>
            </a:r>
            <a:endParaRPr lang="nl-NL" dirty="0"/>
          </a:p>
          <a:p>
            <a:pPr lvl="1"/>
            <a:r>
              <a:rPr lang="nl-NL" dirty="0" err="1"/>
              <a:t>Clairaut’s</a:t>
            </a:r>
            <a:r>
              <a:rPr lang="nl-NL" dirty="0"/>
              <a:t> </a:t>
            </a:r>
            <a:r>
              <a:rPr lang="nl-NL" dirty="0" err="1"/>
              <a:t>theorem</a:t>
            </a:r>
            <a:endParaRPr lang="nl-NL" dirty="0"/>
          </a:p>
          <a:p>
            <a:pPr lvl="1"/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smooth</a:t>
            </a:r>
            <a:r>
              <a:rPr lang="nl-NL" dirty="0"/>
              <a:t> </a:t>
            </a:r>
            <a:r>
              <a:rPr lang="nl-NL" dirty="0" err="1"/>
              <a:t>functions</a:t>
            </a:r>
            <a:endParaRPr lang="nl-NL" dirty="0"/>
          </a:p>
          <a:p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become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(&gt;1.000.000.000 parameters) n</a:t>
            </a:r>
            <a:r>
              <a:rPr lang="nl-NL" baseline="30000" dirty="0"/>
              <a:t>2</a:t>
            </a:r>
            <a:endParaRPr lang="nl-NL" dirty="0"/>
          </a:p>
          <a:p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methods</a:t>
            </a:r>
            <a:r>
              <a:rPr lang="nl-NL" dirty="0"/>
              <a:t> like BFGS</a:t>
            </a:r>
          </a:p>
          <a:p>
            <a:r>
              <a:rPr lang="nl-NL" dirty="0" err="1"/>
              <a:t>Local</a:t>
            </a:r>
            <a:r>
              <a:rPr lang="nl-NL" dirty="0"/>
              <a:t> minima, maxima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saddle</a:t>
            </a:r>
            <a:r>
              <a:rPr lang="nl-NL" dirty="0"/>
              <a:t> points (</a:t>
            </a:r>
            <a:r>
              <a:rPr lang="nl-NL" dirty="0" err="1"/>
              <a:t>neither</a:t>
            </a:r>
            <a:r>
              <a:rPr lang="nl-NL" dirty="0"/>
              <a:t> max nor min)</a:t>
            </a:r>
            <a:endParaRPr lang="nl-NL" baseline="30000" dirty="0"/>
          </a:p>
          <a:p>
            <a:pPr marL="0" indent="0" rtl="0">
              <a:buNone/>
            </a:pP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3" name="Afbeelding 2" descr="Afbeelding met schets, tekening, ontwerp, kunst&#10;&#10;Door AI gegenereerde inhoud is mogelijk onjuist.">
            <a:extLst>
              <a:ext uri="{FF2B5EF4-FFF2-40B4-BE49-F238E27FC236}">
                <a16:creationId xmlns:a16="http://schemas.microsoft.com/office/drawing/2014/main" id="{C84C40B3-94F4-F62B-4543-8B8D4ABE91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2659" y="4534930"/>
            <a:ext cx="3390123" cy="251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47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C45E-0F7E-918A-0209-776D5BE5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35F34A00-E755-4B7E-8D3B-15281C2CB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Newton’s</a:t>
            </a:r>
            <a:r>
              <a:rPr lang="nl-NL" dirty="0"/>
              <a:t>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or more variables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9CCA0A14-407D-546E-C978-FD64DB50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Principles</a:t>
            </a:r>
            <a:r>
              <a:rPr lang="nl-NL" dirty="0"/>
              <a:t> </a:t>
            </a:r>
            <a:r>
              <a:rPr lang="nl-NL" dirty="0" err="1"/>
              <a:t>identical</a:t>
            </a:r>
            <a:endParaRPr lang="nl-NL" dirty="0"/>
          </a:p>
          <a:p>
            <a:pPr rtl="0"/>
            <a:r>
              <a:rPr lang="nl-NL" dirty="0"/>
              <a:t>Minima, maxima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inconclusive</a:t>
            </a:r>
            <a:endParaRPr lang="nl-NL" dirty="0"/>
          </a:p>
          <a:p>
            <a:pPr lvl="1"/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eigenvalues</a:t>
            </a:r>
            <a:r>
              <a:rPr lang="nl-NL" dirty="0"/>
              <a:t> of Hf at (</a:t>
            </a:r>
            <a:r>
              <a:rPr lang="nl-NL" dirty="0" err="1"/>
              <a:t>x,y</a:t>
            </a:r>
            <a:r>
              <a:rPr lang="nl-NL" dirty="0"/>
              <a:t>) are </a:t>
            </a:r>
            <a:r>
              <a:rPr lang="nl-NL" dirty="0" err="1"/>
              <a:t>positive</a:t>
            </a:r>
            <a:r>
              <a:rPr lang="nl-NL" dirty="0"/>
              <a:t>, </a:t>
            </a:r>
            <a:r>
              <a:rPr lang="nl-NL" dirty="0" err="1"/>
              <a:t>it’s</a:t>
            </a:r>
            <a:r>
              <a:rPr lang="nl-NL" dirty="0"/>
              <a:t> a minimum</a:t>
            </a:r>
          </a:p>
          <a:p>
            <a:pPr lvl="1"/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eigenvalues</a:t>
            </a:r>
            <a:r>
              <a:rPr lang="nl-NL" dirty="0"/>
              <a:t> of Hf at (</a:t>
            </a:r>
            <a:r>
              <a:rPr lang="nl-NL" dirty="0" err="1"/>
              <a:t>x,y</a:t>
            </a:r>
            <a:r>
              <a:rPr lang="nl-NL" dirty="0"/>
              <a:t>) are </a:t>
            </a:r>
            <a:r>
              <a:rPr lang="nl-NL" dirty="0" err="1"/>
              <a:t>negative</a:t>
            </a:r>
            <a:r>
              <a:rPr lang="nl-NL" dirty="0"/>
              <a:t>, </a:t>
            </a:r>
            <a:r>
              <a:rPr lang="nl-NL" dirty="0" err="1"/>
              <a:t>it’s</a:t>
            </a:r>
            <a:r>
              <a:rPr lang="nl-NL" dirty="0"/>
              <a:t> a maximum</a:t>
            </a:r>
          </a:p>
          <a:p>
            <a:pPr lvl="1"/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eigenvalues</a:t>
            </a:r>
            <a:r>
              <a:rPr lang="nl-NL" dirty="0"/>
              <a:t> of Hf at (</a:t>
            </a:r>
            <a:r>
              <a:rPr lang="nl-NL" dirty="0" err="1"/>
              <a:t>x,y</a:t>
            </a:r>
            <a:r>
              <a:rPr lang="nl-NL" dirty="0"/>
              <a:t>) are zero, or we have mixed </a:t>
            </a:r>
            <a:r>
              <a:rPr lang="nl-NL" dirty="0" err="1"/>
              <a:t>signs</a:t>
            </a:r>
            <a:r>
              <a:rPr lang="nl-NL" dirty="0"/>
              <a:t>, </a:t>
            </a:r>
            <a:r>
              <a:rPr lang="nl-NL" dirty="0" err="1"/>
              <a:t>it’s</a:t>
            </a:r>
            <a:r>
              <a:rPr lang="nl-NL" dirty="0"/>
              <a:t> </a:t>
            </a:r>
            <a:r>
              <a:rPr lang="nl-NL" dirty="0" err="1"/>
              <a:t>inconclusive</a:t>
            </a:r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EF8026F-D017-209F-EB23-08B9C701A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4796653"/>
            <a:ext cx="7772400" cy="737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059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48DB7-7A7C-F7E5-0B5B-A954461A3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CE11753A-C062-D20C-C560-F26CB8DD0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SVD in PCA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7D362275-9212-C889-46BB-31EA1FE68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Application of PCA in SVD </a:t>
            </a:r>
            <a:r>
              <a:rPr lang="nl-NL" dirty="0" err="1"/>
              <a:t>instead</a:t>
            </a:r>
            <a:r>
              <a:rPr lang="nl-NL" dirty="0"/>
              <a:t> of EVD</a:t>
            </a:r>
          </a:p>
          <a:p>
            <a:pPr rtl="0"/>
            <a:r>
              <a:rPr lang="nl-NL" dirty="0"/>
              <a:t>AMC – </a:t>
            </a:r>
            <a:r>
              <a:rPr lang="nl-NL" dirty="0" err="1"/>
              <a:t>Mean</a:t>
            </a:r>
            <a:r>
              <a:rPr lang="nl-NL" dirty="0"/>
              <a:t> </a:t>
            </a:r>
            <a:r>
              <a:rPr lang="nl-NL" dirty="0" err="1"/>
              <a:t>centered</a:t>
            </a:r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r>
              <a:rPr lang="nl-NL" dirty="0"/>
              <a:t>EVD on AMC -&gt; </a:t>
            </a:r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406E7115-C345-BFAB-B4B0-A847C512E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162" y="2995611"/>
            <a:ext cx="4064000" cy="1168400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8333F5CF-BBC9-1215-CD68-2DD632ACD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996" y="4100975"/>
            <a:ext cx="4445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916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6C670-491A-5AB0-3CA6-2E60556E2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771601DB-47BC-9BC8-0B5C-1E4871096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SVD in PCA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79D6E767-B95A-C5FE-9E61-EC80345F3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457200" lvl="1" indent="0">
              <a:buNone/>
            </a:pPr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4" name="Afbeelding 3" descr="Afbeelding met tekst, diagram, schermopname, Plan&#10;&#10;Door AI gegenereerde inhoud is mogelijk onjuist.">
            <a:extLst>
              <a:ext uri="{FF2B5EF4-FFF2-40B4-BE49-F238E27FC236}">
                <a16:creationId xmlns:a16="http://schemas.microsoft.com/office/drawing/2014/main" id="{A23C3AF3-91E2-470E-A953-80F8E9025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515" y="1225864"/>
            <a:ext cx="5917083" cy="481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02E0F-293A-62DB-F308-D5FADC36D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21EE9209-6049-4565-D45D-FCAF98AC3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SVD in PCA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A0B047B3-1656-E746-13E5-EDBCDE980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SVD: </a:t>
            </a:r>
            <a:r>
              <a:rPr lang="nl-NL" dirty="0" err="1"/>
              <a:t>calculate</a:t>
            </a:r>
            <a:r>
              <a:rPr lang="nl-NL" dirty="0"/>
              <a:t>:</a:t>
            </a:r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r>
              <a:rPr lang="nl-NL" dirty="0"/>
              <a:t>We get λ</a:t>
            </a:r>
            <a:r>
              <a:rPr lang="nl-NL" baseline="-25000" dirty="0"/>
              <a:t>1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λ</a:t>
            </a:r>
            <a:r>
              <a:rPr lang="nl-NL" baseline="-25000" dirty="0"/>
              <a:t>2</a:t>
            </a:r>
            <a:r>
              <a:rPr lang="nl-NL" dirty="0"/>
              <a:t>  </a:t>
            </a:r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4B067EE-0062-10F3-5577-AD1B5DE3B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9996" y="2049379"/>
            <a:ext cx="2169297" cy="980355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EED0913B-D7C9-7677-DD65-48CC25E79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7998" y="3828267"/>
            <a:ext cx="1730929" cy="110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7242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8989-A8BA-9B61-5434-BA363BBAE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82945171-6655-DA31-0E69-9A14018E6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SVD in PCA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EFD91542-0F90-7515-B2C9-43E0AA86A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Python program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validation</a:t>
            </a:r>
            <a:endParaRPr lang="nl-NL" dirty="0"/>
          </a:p>
          <a:p>
            <a:pPr lvl="1"/>
            <a:r>
              <a:rPr lang="nl-NL" dirty="0" err="1"/>
              <a:t>Define</a:t>
            </a:r>
            <a:r>
              <a:rPr lang="nl-NL" dirty="0"/>
              <a:t> test matrix A</a:t>
            </a:r>
          </a:p>
          <a:p>
            <a:pPr lvl="1"/>
            <a:r>
              <a:rPr lang="nl-NL" dirty="0" err="1"/>
              <a:t>Calculate</a:t>
            </a:r>
            <a:r>
              <a:rPr lang="nl-NL" dirty="0"/>
              <a:t> PCA </a:t>
            </a:r>
            <a:r>
              <a:rPr lang="nl-NL" dirty="0" err="1"/>
              <a:t>values</a:t>
            </a:r>
            <a:endParaRPr lang="nl-NL" dirty="0"/>
          </a:p>
          <a:p>
            <a:pPr lvl="1"/>
            <a:r>
              <a:rPr lang="nl-NL" dirty="0"/>
              <a:t>Show </a:t>
            </a:r>
            <a:r>
              <a:rPr lang="nl-NL" dirty="0" err="1"/>
              <a:t>that</a:t>
            </a:r>
            <a:r>
              <a:rPr lang="nl-NL" dirty="0"/>
              <a:t> EVD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covariance</a:t>
            </a:r>
            <a:r>
              <a:rPr lang="nl-NL" dirty="0"/>
              <a:t> matrix </a:t>
            </a:r>
            <a:r>
              <a:rPr lang="nl-NL" dirty="0" err="1"/>
              <a:t>and</a:t>
            </a:r>
            <a:r>
              <a:rPr lang="nl-NL" dirty="0"/>
              <a:t> SVD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covariance</a:t>
            </a:r>
            <a:r>
              <a:rPr lang="nl-NL" dirty="0"/>
              <a:t> matrix </a:t>
            </a:r>
            <a:r>
              <a:rPr lang="nl-NL" dirty="0" err="1"/>
              <a:t>produces</a:t>
            </a:r>
            <a:r>
              <a:rPr lang="nl-NL" dirty="0"/>
              <a:t> </a:t>
            </a:r>
            <a:r>
              <a:rPr lang="nl-NL" dirty="0" err="1"/>
              <a:t>the</a:t>
            </a:r>
            <a:br>
              <a:rPr lang="nl-NL" dirty="0"/>
            </a:b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values</a:t>
            </a:r>
            <a:endParaRPr lang="nl-NL" dirty="0"/>
          </a:p>
          <a:p>
            <a:pPr lvl="1"/>
            <a:r>
              <a:rPr lang="nl-NL" dirty="0"/>
              <a:t>Show </a:t>
            </a:r>
            <a:r>
              <a:rPr lang="nl-NL" dirty="0" err="1"/>
              <a:t>that</a:t>
            </a:r>
            <a:r>
              <a:rPr lang="nl-NL" dirty="0"/>
              <a:t> SVD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mean-centered</a:t>
            </a:r>
            <a:r>
              <a:rPr lang="nl-NL" dirty="0"/>
              <a:t> data </a:t>
            </a:r>
            <a:r>
              <a:rPr lang="nl-NL" dirty="0" err="1"/>
              <a:t>produces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values</a:t>
            </a:r>
            <a:r>
              <a:rPr lang="nl-NL" dirty="0"/>
              <a:t> apart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scaling</a:t>
            </a:r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34454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C6CA-02E7-625B-E426-246D4B89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F334E2BA-8A9F-7BB4-FB0F-EFDF05872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SVD in PCA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BA517293-21AC-BAF2-DE17-089839160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 err="1"/>
              <a:t>Advantages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It is more memory intensive</a:t>
            </a:r>
          </a:p>
          <a:p>
            <a:pPr lvl="1"/>
            <a:r>
              <a:rPr lang="nl-NL" dirty="0"/>
              <a:t>On </a:t>
            </a:r>
            <a:r>
              <a:rPr lang="nl-NL" dirty="0" err="1"/>
              <a:t>ill-condioned</a:t>
            </a:r>
            <a:r>
              <a:rPr lang="nl-NL" dirty="0"/>
              <a:t> dataset SVD is more </a:t>
            </a:r>
            <a:r>
              <a:rPr lang="nl-NL" dirty="0" err="1"/>
              <a:t>stable</a:t>
            </a:r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69289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41748-11EF-6A9F-84CF-5378BD8A6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C5DA583E-024D-3C5F-1B7F-8D4DCB73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Connection EVD </a:t>
            </a:r>
            <a:r>
              <a:rPr lang="nl-NL" dirty="0" err="1"/>
              <a:t>and</a:t>
            </a:r>
            <a:r>
              <a:rPr lang="nl-NL" dirty="0"/>
              <a:t> SVD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4171BCEF-49D0-5B72-8325-65216270F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nl-NL" dirty="0"/>
              <a:t>EVD:</a:t>
            </a:r>
          </a:p>
          <a:p>
            <a:pPr rtl="0"/>
            <a:endParaRPr lang="nl-NL" dirty="0"/>
          </a:p>
          <a:p>
            <a:pPr rtl="0"/>
            <a:r>
              <a:rPr lang="nl-NL" dirty="0"/>
              <a:t>SVD: </a:t>
            </a:r>
          </a:p>
          <a:p>
            <a:pPr marL="0" indent="0" rtl="0">
              <a:buNone/>
            </a:pPr>
            <a:endParaRPr lang="nl-NL" dirty="0"/>
          </a:p>
          <a:p>
            <a:pPr rtl="0"/>
            <a:r>
              <a:rPr lang="nl-NL" dirty="0" err="1"/>
              <a:t>Calculate</a:t>
            </a:r>
            <a:r>
              <a:rPr lang="nl-NL" dirty="0"/>
              <a:t> U </a:t>
            </a:r>
            <a:r>
              <a:rPr lang="nl-NL" dirty="0" err="1"/>
              <a:t>and</a:t>
            </a:r>
            <a:r>
              <a:rPr lang="nl-NL" dirty="0"/>
              <a:t> V:</a:t>
            </a:r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marL="0" indent="0" rtl="0">
              <a:buNone/>
            </a:pPr>
            <a:endParaRPr lang="nl-NL" dirty="0"/>
          </a:p>
          <a:p>
            <a:pPr rtl="0"/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because</a:t>
            </a:r>
            <a:r>
              <a:rPr lang="nl-NL" dirty="0"/>
              <a:t> Σ</a:t>
            </a:r>
            <a:r>
              <a:rPr lang="nl-NL" baseline="30000" dirty="0"/>
              <a:t>2</a:t>
            </a:r>
            <a:r>
              <a:rPr lang="nl-NL" dirty="0"/>
              <a:t> = </a:t>
            </a:r>
            <a:r>
              <a:rPr lang="nl-NL" dirty="0" err="1"/>
              <a:t>Λ</a:t>
            </a: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88C9D4D0-129E-F798-F9FF-647D11866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244" y="2409925"/>
            <a:ext cx="1751055" cy="468862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D4701C22-B746-BD18-76A3-6FD92A222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244" y="3348681"/>
            <a:ext cx="1522799" cy="32704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5DF8A9A9-92A3-55E0-4FE0-EEF5FE888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8902" y="4145620"/>
            <a:ext cx="6501714" cy="593594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44DCDE2D-74BC-1252-67FC-170458B1CB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468" y="4673748"/>
            <a:ext cx="6954781" cy="694552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61A2A381-2EA1-5602-C840-A85D1E0A26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7369" y="5760378"/>
            <a:ext cx="4430242" cy="50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78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BFA13-0F74-00D0-FA77-06F497560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A8D07F6B-5AB4-8A08-1911-18657287F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Connection EVD </a:t>
            </a:r>
            <a:r>
              <a:rPr lang="nl-NL" dirty="0" err="1"/>
              <a:t>and</a:t>
            </a:r>
            <a:r>
              <a:rPr lang="nl-NL" dirty="0"/>
              <a:t> SVD</a:t>
            </a:r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6897B6E7-5650-38DE-3219-6B42E1910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r>
              <a:rPr lang="nl-NL" dirty="0"/>
              <a:t>S is square </a:t>
            </a:r>
            <a:r>
              <a:rPr lang="nl-NL" dirty="0" err="1"/>
              <a:t>symmetric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positive</a:t>
            </a:r>
            <a:r>
              <a:rPr lang="nl-NL" dirty="0"/>
              <a:t> semi-</a:t>
            </a:r>
            <a:r>
              <a:rPr lang="nl-NL" dirty="0" err="1"/>
              <a:t>definite</a:t>
            </a:r>
            <a:r>
              <a:rPr lang="nl-NL" dirty="0"/>
              <a:t> (S = S</a:t>
            </a:r>
            <a:r>
              <a:rPr lang="nl-NL" baseline="30000" dirty="0"/>
              <a:t>T</a:t>
            </a:r>
            <a:r>
              <a:rPr lang="nl-NL" dirty="0"/>
              <a:t>)</a:t>
            </a:r>
          </a:p>
          <a:p>
            <a:r>
              <a:rPr lang="nl-NL" dirty="0" err="1"/>
              <a:t>Consider</a:t>
            </a:r>
            <a:r>
              <a:rPr lang="nl-NL" dirty="0"/>
              <a:t>: </a:t>
            </a:r>
          </a:p>
          <a:p>
            <a:pPr lvl="1"/>
            <a:r>
              <a:rPr lang="nl-NL" dirty="0"/>
              <a:t>U = V </a:t>
            </a:r>
          </a:p>
          <a:p>
            <a:pPr lvl="1"/>
            <a:r>
              <a:rPr lang="nl-NL" dirty="0"/>
              <a:t>The </a:t>
            </a:r>
            <a:r>
              <a:rPr lang="nl-NL" dirty="0" err="1"/>
              <a:t>singular</a:t>
            </a:r>
            <a:r>
              <a:rPr lang="nl-NL" dirty="0"/>
              <a:t> </a:t>
            </a:r>
            <a:r>
              <a:rPr lang="nl-NL" dirty="0" err="1"/>
              <a:t>values</a:t>
            </a:r>
            <a:r>
              <a:rPr lang="nl-NL" dirty="0"/>
              <a:t> of S are </a:t>
            </a:r>
            <a:r>
              <a:rPr lang="nl-NL" dirty="0" err="1"/>
              <a:t>equal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its</a:t>
            </a:r>
            <a:r>
              <a:rPr lang="nl-NL" dirty="0"/>
              <a:t> </a:t>
            </a:r>
            <a:r>
              <a:rPr lang="nl-NL" dirty="0" err="1"/>
              <a:t>eigenvalues</a:t>
            </a:r>
            <a:r>
              <a:rPr lang="nl-NL" dirty="0"/>
              <a:t> ,</a:t>
            </a:r>
          </a:p>
          <a:p>
            <a:pPr lvl="1"/>
            <a:r>
              <a:rPr lang="nl-NL" dirty="0"/>
              <a:t>U is </a:t>
            </a:r>
            <a:r>
              <a:rPr lang="nl-NL" dirty="0" err="1"/>
              <a:t>orthogonal</a:t>
            </a:r>
            <a:r>
              <a:rPr lang="nl-NL" dirty="0"/>
              <a:t>, </a:t>
            </a:r>
            <a:r>
              <a:rPr lang="nl-NL" dirty="0" err="1"/>
              <a:t>so</a:t>
            </a:r>
            <a:r>
              <a:rPr lang="nl-NL" dirty="0"/>
              <a:t> U</a:t>
            </a:r>
            <a:r>
              <a:rPr lang="nl-NL" baseline="30000" dirty="0"/>
              <a:t>−1</a:t>
            </a:r>
            <a:r>
              <a:rPr lang="nl-NL" dirty="0"/>
              <a:t> = U</a:t>
            </a:r>
            <a:r>
              <a:rPr lang="nl-NL" baseline="30000" dirty="0"/>
              <a:t>T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C02177AB-95FB-302E-981A-7F1E59A95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390" y="4206961"/>
            <a:ext cx="1993900" cy="49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248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C4F6C-CD88-BBC4-7CDD-4B528B68C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4BC36A6E-4347-649A-325C-B37D9E3B8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Numerical</a:t>
            </a:r>
            <a:r>
              <a:rPr lang="nl-NL" dirty="0"/>
              <a:t> </a:t>
            </a:r>
            <a:r>
              <a:rPr lang="nl-NL" dirty="0" err="1"/>
              <a:t>examples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70765418-5DBA-1723-D003-2E9416B8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Function</a:t>
            </a:r>
            <a:r>
              <a:rPr lang="nl-NL" dirty="0"/>
              <a:t>: </a:t>
            </a:r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2" name="Afbeelding 1">
            <a:extLst>
              <a:ext uri="{FF2B5EF4-FFF2-40B4-BE49-F238E27FC236}">
                <a16:creationId xmlns:a16="http://schemas.microsoft.com/office/drawing/2014/main" id="{048F9F01-F182-C13F-370A-3196CA342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562" y="2491946"/>
            <a:ext cx="3889632" cy="530404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5E7C8868-8AAA-A980-6C65-2FA40D33B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390" y="3054803"/>
            <a:ext cx="6897130" cy="748393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70C0E414-BD94-176E-1C15-B831561647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390" y="3835649"/>
            <a:ext cx="3987457" cy="260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5941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6EAD-DD25-9BC6-8892-689A3F3C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16E01589-0AF5-51AF-0BA7-28F7B3A1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Numerical</a:t>
            </a:r>
            <a:r>
              <a:rPr lang="nl-NL" dirty="0"/>
              <a:t> </a:t>
            </a:r>
            <a:r>
              <a:rPr lang="nl-NL" dirty="0" err="1"/>
              <a:t>examples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DA0C707D-0176-4605-47B0-07BEDB01A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Hessian</a:t>
            </a:r>
            <a:r>
              <a:rPr lang="nl-NL" dirty="0"/>
              <a:t> matrix: 5 </a:t>
            </a:r>
            <a:r>
              <a:rPr lang="nl-NL" dirty="0" err="1"/>
              <a:t>iterations</a:t>
            </a:r>
            <a:endParaRPr lang="nl-NL" dirty="0"/>
          </a:p>
          <a:p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⍺ = 0.01: 109 </a:t>
            </a:r>
            <a:r>
              <a:rPr lang="nl-NL" dirty="0" err="1"/>
              <a:t>iterations</a:t>
            </a:r>
            <a:endParaRPr lang="nl-NL" dirty="0"/>
          </a:p>
          <a:p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descent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⍺ = 0.05: 27 </a:t>
            </a:r>
            <a:r>
              <a:rPr lang="nl-NL" dirty="0" err="1"/>
              <a:t>iterations</a:t>
            </a: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  <p:pic>
        <p:nvPicPr>
          <p:cNvPr id="5" name="Tijdelijke aanduiding voor inhoud 11" descr="Afbeelding met diagram, lijn, ontwerp&#10;&#10;Door AI gegenereerde inhoud is mogelijk onjuist.">
            <a:extLst>
              <a:ext uri="{FF2B5EF4-FFF2-40B4-BE49-F238E27FC236}">
                <a16:creationId xmlns:a16="http://schemas.microsoft.com/office/drawing/2014/main" id="{81FD343B-5B9C-1AE9-0CB5-E8D93A5051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755" y="3398108"/>
            <a:ext cx="3704489" cy="315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142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9BE7D-25F6-1034-69D6-26B7423C7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>
            <a:extLst>
              <a:ext uri="{FF2B5EF4-FFF2-40B4-BE49-F238E27FC236}">
                <a16:creationId xmlns:a16="http://schemas.microsoft.com/office/drawing/2014/main" id="{F252CACD-05B3-F85D-E6B5-8679478A2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nl-NL" dirty="0" err="1"/>
              <a:t>Colaboration</a:t>
            </a:r>
            <a:r>
              <a:rPr lang="nl-NL" dirty="0"/>
              <a:t> &amp; </a:t>
            </a:r>
            <a:r>
              <a:rPr lang="nl-NL" dirty="0" err="1"/>
              <a:t>Reflection</a:t>
            </a:r>
            <a:endParaRPr lang="nl-NL" dirty="0"/>
          </a:p>
        </p:txBody>
      </p:sp>
      <p:sp>
        <p:nvSpPr>
          <p:cNvPr id="14" name="Tijdelijke aanduiding voor inhoud 2">
            <a:extLst>
              <a:ext uri="{FF2B5EF4-FFF2-40B4-BE49-F238E27FC236}">
                <a16:creationId xmlns:a16="http://schemas.microsoft.com/office/drawing/2014/main" id="{3708EE4A-BB6D-FB33-0B6E-0860CE48E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lvl="1"/>
            <a:endParaRPr lang="nl-NL" dirty="0"/>
          </a:p>
          <a:p>
            <a:pPr rtl="0"/>
            <a:endParaRPr lang="nl-NL" dirty="0"/>
          </a:p>
          <a:p>
            <a:pPr rtl="0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45728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-thema">
  <a:themeElements>
    <a:clrScheme name="Education">
      <a:dk1>
        <a:srgbClr val="3C4743"/>
      </a:dk1>
      <a:lt1>
        <a:srgbClr val="E5E6DA"/>
      </a:lt1>
      <a:dk2>
        <a:srgbClr val="000000"/>
      </a:dk2>
      <a:lt2>
        <a:srgbClr val="FFFFFF"/>
      </a:lt2>
      <a:accent1>
        <a:srgbClr val="DDC237"/>
      </a:accent1>
      <a:accent2>
        <a:srgbClr val="94A43E"/>
      </a:accent2>
      <a:accent3>
        <a:srgbClr val="6488A3"/>
      </a:accent3>
      <a:accent4>
        <a:srgbClr val="926E8F"/>
      </a:accent4>
      <a:accent5>
        <a:srgbClr val="96A1AA"/>
      </a:accent5>
      <a:accent6>
        <a:srgbClr val="A99E8A"/>
      </a:accent6>
      <a:hlink>
        <a:srgbClr val="6488A3"/>
      </a:hlink>
      <a:folHlink>
        <a:srgbClr val="926E8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Education">
      <a:dk1>
        <a:srgbClr val="3C4743"/>
      </a:dk1>
      <a:lt1>
        <a:srgbClr val="E5E6DA"/>
      </a:lt1>
      <a:dk2>
        <a:srgbClr val="000000"/>
      </a:dk2>
      <a:lt2>
        <a:srgbClr val="FFFFFF"/>
      </a:lt2>
      <a:accent1>
        <a:srgbClr val="DDC237"/>
      </a:accent1>
      <a:accent2>
        <a:srgbClr val="94A43E"/>
      </a:accent2>
      <a:accent3>
        <a:srgbClr val="6488A3"/>
      </a:accent3>
      <a:accent4>
        <a:srgbClr val="926E8F"/>
      </a:accent4>
      <a:accent5>
        <a:srgbClr val="96A1AA"/>
      </a:accent5>
      <a:accent6>
        <a:srgbClr val="A99E8A"/>
      </a:accent6>
      <a:hlink>
        <a:srgbClr val="6488A3"/>
      </a:hlink>
      <a:folHlink>
        <a:srgbClr val="926E8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2681</TotalTime>
  <Words>598</Words>
  <Application>Microsoft Macintosh PowerPoint</Application>
  <PresentationFormat>Breedbeeld</PresentationFormat>
  <Paragraphs>217</Paragraphs>
  <Slides>25</Slides>
  <Notes>25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25</vt:i4>
      </vt:variant>
    </vt:vector>
  </HeadingPairs>
  <TitlesOfParts>
    <vt:vector size="30" baseType="lpstr">
      <vt:lpstr>Arial</vt:lpstr>
      <vt:lpstr>Calibri</vt:lpstr>
      <vt:lpstr>Trebuchet MS</vt:lpstr>
      <vt:lpstr>Wingdings 3</vt:lpstr>
      <vt:lpstr>Facet</vt:lpstr>
      <vt:lpstr>Newton’s method vs Gradient descent &amp; SVD in PCA</vt:lpstr>
      <vt:lpstr>Contents</vt:lpstr>
      <vt:lpstr>Introduction</vt:lpstr>
      <vt:lpstr>Gradient descent with one variable</vt:lpstr>
      <vt:lpstr>Gradient descent with one variable</vt:lpstr>
      <vt:lpstr>Newton’s method with one variable</vt:lpstr>
      <vt:lpstr>Newton’s method with one variable</vt:lpstr>
      <vt:lpstr>Newton’s method with one variable</vt:lpstr>
      <vt:lpstr>Functions with two or more variables and their derivatives</vt:lpstr>
      <vt:lpstr>Functions with two or more variables and their derivatives</vt:lpstr>
      <vt:lpstr>Functions with two or more variables and their derivatives</vt:lpstr>
      <vt:lpstr>Gradient descent with two or more variables</vt:lpstr>
      <vt:lpstr>Hessian matrix</vt:lpstr>
      <vt:lpstr>Hessian matrix</vt:lpstr>
      <vt:lpstr>Newton’s method with two or more variables</vt:lpstr>
      <vt:lpstr>SVD in PCA</vt:lpstr>
      <vt:lpstr>SVD in PCA</vt:lpstr>
      <vt:lpstr>SVD in PCA</vt:lpstr>
      <vt:lpstr>SVD in PCA</vt:lpstr>
      <vt:lpstr>SVD in PCA</vt:lpstr>
      <vt:lpstr>Connection EVD and SVD</vt:lpstr>
      <vt:lpstr>Connection EVD and SVD</vt:lpstr>
      <vt:lpstr>Numerical examples</vt:lpstr>
      <vt:lpstr>Numerical examples</vt:lpstr>
      <vt:lpstr>Colaboration &amp; Reflection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Titelindeling</dc:title>
  <dc:creator>John Stegink</dc:creator>
  <cp:lastModifiedBy>John Stegink</cp:lastModifiedBy>
  <cp:revision>17</cp:revision>
  <dcterms:created xsi:type="dcterms:W3CDTF">2025-11-15T10:00:46Z</dcterms:created>
  <dcterms:modified xsi:type="dcterms:W3CDTF">2025-11-16T13:40:47Z</dcterms:modified>
</cp:coreProperties>
</file>